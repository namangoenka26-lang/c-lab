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ibre Baskerville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LibreBaskerville-regular.fntdata"/><Relationship Id="rId14" Type="http://schemas.openxmlformats.org/officeDocument/2006/relationships/slide" Target="slides/slide9.xml"/><Relationship Id="rId17" Type="http://schemas.openxmlformats.org/officeDocument/2006/relationships/font" Target="fonts/LibreBaskerville-italic.fntdata"/><Relationship Id="rId16" Type="http://schemas.openxmlformats.org/officeDocument/2006/relationships/font" Target="fonts/LibreBaskerville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LibreBaskervill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 type="tx">
  <p:cSld name="TITLE_AND_BODY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 type="tx">
  <p:cSld name="TITLE_AND_BODY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69056"/>
            <a:ext cx="82296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 title="Palladium_logo.png"/>
          <p:cNvPicPr preferRelativeResize="0"/>
          <p:nvPr/>
        </p:nvPicPr>
        <p:blipFill rotWithShape="1">
          <a:blip r:embed="rId3">
            <a:alphaModFix/>
          </a:blip>
          <a:srcRect b="-25523" l="0" r="0" t="-6108"/>
          <a:stretch/>
        </p:blipFill>
        <p:spPr>
          <a:xfrm>
            <a:off x="124725" y="0"/>
            <a:ext cx="1042200" cy="19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/>
          <p:nvPr/>
        </p:nvSpPr>
        <p:spPr>
          <a:xfrm>
            <a:off x="2361700" y="686926"/>
            <a:ext cx="2652900" cy="362400"/>
          </a:xfrm>
          <a:prstGeom prst="roundRect">
            <a:avLst>
              <a:gd fmla="val 17880" name="adj"/>
            </a:avLst>
          </a:prstGeom>
          <a:solidFill>
            <a:srgbClr val="F7EDD4"/>
          </a:solidFill>
          <a:ln>
            <a:noFill/>
          </a:ln>
        </p:spPr>
        <p:txBody>
          <a:bodyPr anchorCtr="0" anchor="t" bIns="62150" lIns="62150" spcFirstLastPara="1" rIns="62150" wrap="square" tIns="62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8"/>
              <a:buFont typeface="Calibri"/>
              <a:buNone/>
            </a:pPr>
            <a:r>
              <a:t/>
            </a:r>
            <a:endParaRPr b="0" i="0" sz="244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7"/>
          <p:cNvSpPr txBox="1"/>
          <p:nvPr/>
        </p:nvSpPr>
        <p:spPr>
          <a:xfrm>
            <a:off x="2477366" y="744710"/>
            <a:ext cx="23643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088"/>
              <a:buFont typeface="DM Sans"/>
              <a:buNone/>
            </a:pPr>
            <a:r>
              <a:rPr b="0" i="0" lang="en-US" sz="1088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PRIMENUMBERS INTERNSHIP 2026</a:t>
            </a:r>
            <a:endParaRPr sz="1904"/>
          </a:p>
        </p:txBody>
      </p:sp>
      <p:sp>
        <p:nvSpPr>
          <p:cNvPr id="32" name="Google Shape;32;p7"/>
          <p:cNvSpPr txBox="1"/>
          <p:nvPr/>
        </p:nvSpPr>
        <p:spPr>
          <a:xfrm>
            <a:off x="2361700" y="1126316"/>
            <a:ext cx="6422400" cy="1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672"/>
              <a:buFont typeface="Libre Baskerville"/>
              <a:buNone/>
            </a:pPr>
            <a:r>
              <a:rPr lang="en-US" sz="367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Work on Deep Data Engineering that moves the country’s GDP </a:t>
            </a:r>
            <a:endParaRPr sz="1904"/>
          </a:p>
        </p:txBody>
      </p:sp>
      <p:sp>
        <p:nvSpPr>
          <p:cNvPr id="33" name="Google Shape;33;p7"/>
          <p:cNvSpPr txBox="1"/>
          <p:nvPr/>
        </p:nvSpPr>
        <p:spPr>
          <a:xfrm>
            <a:off x="2361700" y="3222668"/>
            <a:ext cx="6422400" cy="1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96"/>
              <a:buFont typeface="DM Sans"/>
              <a:buNone/>
            </a:pPr>
            <a:r>
              <a:rPr b="0" i="0" lang="en-US" sz="1496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At Primenumbers, interns are not placed in disconnected training batches. You will work alongside the people actively building the product, solving customer problems, and making real engineering decisions — with direct, practical, and fast-paced exposure.</a:t>
            </a:r>
            <a:endParaRPr sz="1904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/>
        </p:nvSpPr>
        <p:spPr>
          <a:xfrm>
            <a:off x="571872" y="527595"/>
            <a:ext cx="916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B88E23"/>
              </a:buClr>
              <a:buSzPts val="700"/>
              <a:buFont typeface="DM Sans"/>
              <a:buNone/>
            </a:pPr>
            <a:r>
              <a:rPr b="0" i="0" lang="en-US" sz="700" u="none" cap="none" strike="noStrike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FOUNDER PROFILES</a:t>
            </a:r>
            <a:endParaRPr/>
          </a:p>
        </p:txBody>
      </p:sp>
      <p:sp>
        <p:nvSpPr>
          <p:cNvPr id="39" name="Google Shape;39;p8"/>
          <p:cNvSpPr txBox="1"/>
          <p:nvPr/>
        </p:nvSpPr>
        <p:spPr>
          <a:xfrm>
            <a:off x="496118" y="699204"/>
            <a:ext cx="69585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400"/>
              <a:buFont typeface="Libre Baskerville"/>
              <a:buNone/>
            </a:pPr>
            <a:r>
              <a:rPr b="0" i="0" lang="en-US" sz="24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Built by Engineers Who Have Scaled Real Systems</a:t>
            </a:r>
            <a:endParaRPr/>
          </a:p>
        </p:txBody>
      </p:sp>
      <p:sp>
        <p:nvSpPr>
          <p:cNvPr id="40" name="Google Shape;40;p8"/>
          <p:cNvSpPr txBox="1"/>
          <p:nvPr/>
        </p:nvSpPr>
        <p:spPr>
          <a:xfrm>
            <a:off x="2214675" y="1584825"/>
            <a:ext cx="21909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Sandeepan Jindal</a:t>
            </a:r>
            <a:endParaRPr b="1" sz="140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Co-founder, IIT Delhi</a:t>
            </a:r>
            <a:endParaRPr b="1" sz="950">
              <a:solidFill>
                <a:srgbClr val="B88E2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CS, IIT Delhi — IBM, Bloomreach, Primenumbers</a:t>
            </a:r>
            <a:endParaRPr b="1" sz="9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rtl="0" algn="l">
              <a:spcBef>
                <a:spcPts val="75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DM Sans"/>
              <a:buChar char="●"/>
            </a:pPr>
            <a:r>
              <a:rPr lang="en-US" sz="900">
                <a:solidFill>
                  <a:srgbClr val="5A5A5A"/>
                </a:solidFill>
                <a:latin typeface="DM Sans"/>
                <a:ea typeface="DM Sans"/>
                <a:cs typeface="DM Sans"/>
                <a:sym typeface="DM Sans"/>
              </a:rPr>
              <a:t>Deep expertise in algorithms, distributed systems, search, and data products</a:t>
            </a:r>
            <a:endParaRPr sz="900">
              <a:solidFill>
                <a:srgbClr val="5A5A5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rtl="0" algn="l">
              <a:spcBef>
                <a:spcPts val="450"/>
              </a:spcBef>
              <a:spcAft>
                <a:spcPts val="450"/>
              </a:spcAft>
              <a:buClr>
                <a:srgbClr val="5A5A5A"/>
              </a:buClr>
              <a:buSzPts val="900"/>
              <a:buFont typeface="DM Sans"/>
              <a:buChar char="●"/>
            </a:pPr>
            <a:r>
              <a:rPr lang="en-US" sz="900">
                <a:solidFill>
                  <a:srgbClr val="5A5A5A"/>
                </a:solidFill>
                <a:latin typeface="DM Sans"/>
                <a:ea typeface="DM Sans"/>
                <a:cs typeface="DM Sans"/>
                <a:sym typeface="DM Sans"/>
              </a:rPr>
              <a:t>Building AI-powered procurement intelligence</a:t>
            </a:r>
            <a:endParaRPr sz="900">
              <a:solidFill>
                <a:srgbClr val="5A5A5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" name="Google Shape;41;p8"/>
          <p:cNvSpPr txBox="1"/>
          <p:nvPr/>
        </p:nvSpPr>
        <p:spPr>
          <a:xfrm>
            <a:off x="6381600" y="1584825"/>
            <a:ext cx="21909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Gaurav Bhati</a:t>
            </a:r>
            <a:endParaRPr b="1" sz="140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Co-founder, IIT Bombay</a:t>
            </a:r>
            <a:endParaRPr b="1" sz="950">
              <a:solidFill>
                <a:srgbClr val="B88E2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IIT Bombay — Microsoft, Bloomreach, Primenumbers</a:t>
            </a:r>
            <a:endParaRPr b="1" sz="9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rtl="0" algn="l">
              <a:spcBef>
                <a:spcPts val="75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DM Sans"/>
              <a:buChar char="●"/>
            </a:pPr>
            <a:r>
              <a:rPr lang="en-US" sz="900">
                <a:solidFill>
                  <a:srgbClr val="5A5A5A"/>
                </a:solidFill>
                <a:latin typeface="DM Sans"/>
                <a:ea typeface="DM Sans"/>
                <a:cs typeface="DM Sans"/>
                <a:sym typeface="DM Sans"/>
              </a:rPr>
              <a:t>Strong in B2B products, architecture, search, and product-market fit</a:t>
            </a:r>
            <a:endParaRPr sz="900">
              <a:solidFill>
                <a:srgbClr val="5A5A5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rtl="0" algn="l">
              <a:spcBef>
                <a:spcPts val="450"/>
              </a:spcBef>
              <a:spcAft>
                <a:spcPts val="450"/>
              </a:spcAft>
              <a:buClr>
                <a:srgbClr val="5A5A5A"/>
              </a:buClr>
              <a:buSzPts val="900"/>
              <a:buFont typeface="DM Sans"/>
              <a:buChar char="●"/>
            </a:pPr>
            <a:r>
              <a:rPr lang="en-US" sz="900">
                <a:solidFill>
                  <a:srgbClr val="5A5A5A"/>
                </a:solidFill>
                <a:latin typeface="DM Sans"/>
                <a:ea typeface="DM Sans"/>
                <a:cs typeface="DM Sans"/>
                <a:sym typeface="DM Sans"/>
              </a:rPr>
              <a:t>Turns messy real-world problems into scalable systems</a:t>
            </a:r>
            <a:endParaRPr sz="900">
              <a:solidFill>
                <a:srgbClr val="5A5A5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2" name="Google Shape;42;p8"/>
          <p:cNvGrpSpPr/>
          <p:nvPr/>
        </p:nvGrpSpPr>
        <p:grpSpPr>
          <a:xfrm>
            <a:off x="571500" y="3714750"/>
            <a:ext cx="8001000" cy="571500"/>
            <a:chOff x="0" y="0"/>
            <a:chExt cx="8001000" cy="571500"/>
          </a:xfrm>
        </p:grpSpPr>
        <p:sp>
          <p:nvSpPr>
            <p:cNvPr id="43" name="Google Shape;43;p8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fmla="val 10000" name="adj"/>
              </a:avLst>
            </a:prstGeom>
            <a:solidFill>
              <a:srgbClr val="F7ED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8"/>
            <p:cNvSpPr txBox="1"/>
            <p:nvPr/>
          </p:nvSpPr>
          <p:spPr>
            <a:xfrm>
              <a:off x="190500" y="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"This is not supervision by managers — you will learn from people who understand code, systems, and real-world execution."</a:t>
              </a:r>
              <a:endParaRPr i="1" sz="1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45" name="Google Shape;4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4950" y="1644200"/>
            <a:ext cx="1646850" cy="158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124" y="1728274"/>
            <a:ext cx="1503400" cy="15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2403927" y="404875"/>
            <a:ext cx="1042500" cy="192600"/>
          </a:xfrm>
          <a:prstGeom prst="roundRect">
            <a:avLst>
              <a:gd fmla="val 19316" name="adj"/>
            </a:avLst>
          </a:prstGeom>
          <a:solidFill>
            <a:srgbClr val="F7EDD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9"/>
          <p:cNvSpPr txBox="1"/>
          <p:nvPr/>
        </p:nvSpPr>
        <p:spPr>
          <a:xfrm>
            <a:off x="2491781" y="438064"/>
            <a:ext cx="834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600"/>
              <a:buFont typeface="DM Sans"/>
              <a:buNone/>
            </a:pPr>
            <a:r>
              <a:rPr b="0" i="0" lang="en-US" sz="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OUR PRODUCTS</a:t>
            </a:r>
            <a:endParaRPr/>
          </a:p>
        </p:txBody>
      </p:sp>
      <p:sp>
        <p:nvSpPr>
          <p:cNvPr id="53" name="Google Shape;53;p9"/>
          <p:cNvSpPr txBox="1"/>
          <p:nvPr/>
        </p:nvSpPr>
        <p:spPr>
          <a:xfrm>
            <a:off x="2403927" y="632135"/>
            <a:ext cx="62439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100"/>
              <a:buFont typeface="Libre Baskerville"/>
              <a:buNone/>
            </a:pPr>
            <a:r>
              <a:rPr b="0" i="0" lang="en-US" sz="21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 and Data Systems for Indian Business Intelligence</a:t>
            </a:r>
            <a:endParaRPr/>
          </a:p>
        </p:txBody>
      </p:sp>
      <p:sp>
        <p:nvSpPr>
          <p:cNvPr id="54" name="Google Shape;54;p9"/>
          <p:cNvSpPr txBox="1"/>
          <p:nvPr/>
        </p:nvSpPr>
        <p:spPr>
          <a:xfrm>
            <a:off x="2403927" y="1454117"/>
            <a:ext cx="6243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Primenumbers converts massive, noisy Indian business data into actionable intelligence — tracking tenders, infrastructure projects, procurement signals, competitors, and market movements.</a:t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2403927" y="2019301"/>
            <a:ext cx="6244200" cy="613500"/>
          </a:xfrm>
          <a:prstGeom prst="roundRect">
            <a:avLst>
              <a:gd fmla="val 758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2551296" y="2068807"/>
            <a:ext cx="2088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000"/>
              <a:buFont typeface="Libre Baskerville"/>
              <a:buNone/>
            </a:pPr>
            <a:r>
              <a:rPr b="0" i="0" lang="en-US" sz="10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Palladium</a:t>
            </a:r>
            <a:endParaRPr/>
          </a:p>
        </p:txBody>
      </p:sp>
      <p:sp>
        <p:nvSpPr>
          <p:cNvPr id="57" name="Google Shape;57;p9"/>
          <p:cNvSpPr txBox="1"/>
          <p:nvPr/>
        </p:nvSpPr>
        <p:spPr>
          <a:xfrm>
            <a:off x="2556715" y="2320346"/>
            <a:ext cx="1539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Core intelligence platform</a:t>
            </a:r>
            <a:endParaRPr/>
          </a:p>
        </p:txBody>
      </p:sp>
      <p:sp>
        <p:nvSpPr>
          <p:cNvPr id="58" name="Google Shape;58;p9"/>
          <p:cNvSpPr/>
          <p:nvPr/>
        </p:nvSpPr>
        <p:spPr>
          <a:xfrm>
            <a:off x="2403927" y="2759641"/>
            <a:ext cx="6244200" cy="613500"/>
          </a:xfrm>
          <a:prstGeom prst="roundRect">
            <a:avLst>
              <a:gd fmla="val 758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 txBox="1"/>
          <p:nvPr/>
        </p:nvSpPr>
        <p:spPr>
          <a:xfrm>
            <a:off x="2556597" y="2840303"/>
            <a:ext cx="1540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000"/>
              <a:buFont typeface="Libre Baskerville"/>
              <a:buNone/>
            </a:pPr>
            <a:r>
              <a:rPr b="0" i="0" lang="en-US" sz="10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Infiniteworks</a:t>
            </a:r>
            <a:endParaRPr/>
          </a:p>
        </p:txBody>
      </p:sp>
      <p:sp>
        <p:nvSpPr>
          <p:cNvPr id="60" name="Google Shape;60;p9"/>
          <p:cNvSpPr txBox="1"/>
          <p:nvPr/>
        </p:nvSpPr>
        <p:spPr>
          <a:xfrm>
            <a:off x="2556616" y="3065188"/>
            <a:ext cx="1883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Supplier and spend intelligence</a:t>
            </a:r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2404026" y="3462518"/>
            <a:ext cx="6244200" cy="613500"/>
          </a:xfrm>
          <a:prstGeom prst="roundRect">
            <a:avLst>
              <a:gd fmla="val 758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9"/>
          <p:cNvSpPr txBox="1"/>
          <p:nvPr/>
        </p:nvSpPr>
        <p:spPr>
          <a:xfrm>
            <a:off x="2556595" y="3500126"/>
            <a:ext cx="241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000"/>
              <a:buFont typeface="Libre Baskerville"/>
              <a:buNone/>
            </a:pPr>
            <a:r>
              <a:rPr b="0" i="0" lang="en-US" sz="10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Upcoming Project </a:t>
            </a: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2556616" y="3765278"/>
            <a:ext cx="1622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Project and tender tracking</a:t>
            </a: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2403927" y="4159948"/>
            <a:ext cx="6244200" cy="613500"/>
          </a:xfrm>
          <a:prstGeom prst="roundRect">
            <a:avLst>
              <a:gd fmla="val 758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2556597" y="4200199"/>
            <a:ext cx="2193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000"/>
              <a:buFont typeface="Libre Baskerville"/>
              <a:buNone/>
            </a:pPr>
            <a:r>
              <a:rPr b="0" i="0" lang="en-US" sz="10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Upcoming Project</a:t>
            </a:r>
            <a:endParaRPr/>
          </a:p>
        </p:txBody>
      </p:sp>
      <p:sp>
        <p:nvSpPr>
          <p:cNvPr id="66" name="Google Shape;66;p9"/>
          <p:cNvSpPr txBox="1"/>
          <p:nvPr/>
        </p:nvSpPr>
        <p:spPr>
          <a:xfrm>
            <a:off x="2556616" y="4465369"/>
            <a:ext cx="158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Market opportunity signals</a:t>
            </a:r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" y="2975100"/>
            <a:ext cx="1918575" cy="1279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25" y="1090700"/>
            <a:ext cx="1918583" cy="12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/>
        </p:nvSpPr>
        <p:spPr>
          <a:xfrm>
            <a:off x="566654" y="174891"/>
            <a:ext cx="70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B88E23"/>
              </a:buClr>
              <a:buSzPts val="700"/>
              <a:buFont typeface="DM Sans"/>
              <a:buNone/>
            </a:pPr>
            <a:r>
              <a:rPr b="0" i="0" lang="en-US" sz="700" u="none" cap="none" strike="noStrike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MARKET TRUST</a:t>
            </a:r>
            <a:endParaRPr/>
          </a:p>
        </p:txBody>
      </p:sp>
      <p:sp>
        <p:nvSpPr>
          <p:cNvPr id="74" name="Google Shape;74;p10"/>
          <p:cNvSpPr txBox="1"/>
          <p:nvPr/>
        </p:nvSpPr>
        <p:spPr>
          <a:xfrm>
            <a:off x="496044" y="475744"/>
            <a:ext cx="81519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300"/>
              <a:buFont typeface="Libre Baskerville"/>
              <a:buNone/>
            </a:pPr>
            <a:r>
              <a:rPr b="0" i="0" lang="en-US" sz="23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Trusted by Companies Solving Real Business Problems</a:t>
            </a:r>
            <a:endParaRPr/>
          </a:p>
        </p:txBody>
      </p:sp>
      <p:sp>
        <p:nvSpPr>
          <p:cNvPr id="75" name="Google Shape;75;p10"/>
          <p:cNvSpPr txBox="1"/>
          <p:nvPr/>
        </p:nvSpPr>
        <p:spPr>
          <a:xfrm>
            <a:off x="5259140" y="1450703"/>
            <a:ext cx="24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1600"/>
              <a:buFont typeface="Libre Baskerville"/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 txBox="1"/>
          <p:nvPr/>
        </p:nvSpPr>
        <p:spPr>
          <a:xfrm>
            <a:off x="5596927" y="2504767"/>
            <a:ext cx="2663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088"/>
              <a:buFont typeface="DM Sans"/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/>
        </p:nvSpPr>
        <p:spPr>
          <a:xfrm>
            <a:off x="4798803" y="2764931"/>
            <a:ext cx="14424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1400"/>
              <a:buFont typeface="Libre Baskerville"/>
              <a:buNone/>
            </a:pPr>
            <a:r>
              <a:rPr b="0" i="0" lang="en-US" sz="14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Sectors We Serve</a:t>
            </a:r>
            <a:endParaRPr/>
          </a:p>
        </p:txBody>
      </p:sp>
      <p:sp>
        <p:nvSpPr>
          <p:cNvPr id="78" name="Google Shape;78;p10"/>
          <p:cNvSpPr txBox="1"/>
          <p:nvPr/>
        </p:nvSpPr>
        <p:spPr>
          <a:xfrm>
            <a:off x="4676263" y="3401025"/>
            <a:ext cx="26634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82879" lvl="0" marL="182879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Infrastructure &amp; Manufacturing</a:t>
            </a:r>
            <a:endParaRPr/>
          </a:p>
          <a:p>
            <a:pPr indent="-182879" lvl="0" marL="182879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Energy &amp; Telecom</a:t>
            </a:r>
            <a:endParaRPr/>
          </a:p>
          <a:p>
            <a:pPr indent="-182879" lvl="0" marL="182879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Pharma &amp; Industrial Products</a:t>
            </a:r>
            <a:endParaRPr/>
          </a:p>
          <a:p>
            <a:pPr indent="-182879" lvl="0" marL="182879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Procurement &amp; Enterprise Business Development</a:t>
            </a:r>
            <a:endParaRPr/>
          </a:p>
          <a:p>
            <a:pPr indent="-182879" lvl="0" marL="182879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… Many more</a:t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496047" y="2769814"/>
            <a:ext cx="2663400" cy="770400"/>
          </a:xfrm>
          <a:prstGeom prst="roundRect">
            <a:avLst>
              <a:gd fmla="val 6522" name="adj"/>
            </a:avLst>
          </a:prstGeom>
          <a:solidFill>
            <a:srgbClr val="F7EDD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618594" y="2842425"/>
            <a:ext cx="24183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 interns, this means your work is not academic — it affects real business decisions at scale.</a:t>
            </a:r>
            <a:endParaRPr/>
          </a:p>
        </p:txBody>
      </p:sp>
      <p:sp>
        <p:nvSpPr>
          <p:cNvPr id="81" name="Google Shape;81;p10"/>
          <p:cNvSpPr txBox="1"/>
          <p:nvPr/>
        </p:nvSpPr>
        <p:spPr>
          <a:xfrm>
            <a:off x="496050" y="1524778"/>
            <a:ext cx="22182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1600"/>
              <a:buFont typeface="Libre Baskerville"/>
              <a:buNone/>
            </a:pPr>
            <a:r>
              <a:rPr b="0" i="0" lang="en-US" sz="16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 MOVE INDIA’s GDP</a:t>
            </a:r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496050" y="2215252"/>
            <a:ext cx="2663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078"/>
              <a:buFont typeface="DM Sans"/>
              <a:buNone/>
            </a:pPr>
            <a:r>
              <a:rPr b="1" i="0" lang="en-US" sz="1078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70,000 Crore worth of wins by our Customers every year</a:t>
            </a:r>
            <a:endParaRPr/>
          </a:p>
        </p:txBody>
      </p:sp>
      <p:sp>
        <p:nvSpPr>
          <p:cNvPr id="83" name="Google Shape;83;p10"/>
          <p:cNvSpPr txBox="1"/>
          <p:nvPr/>
        </p:nvSpPr>
        <p:spPr>
          <a:xfrm>
            <a:off x="496045" y="3794011"/>
            <a:ext cx="390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750 Indian Companies as Customers and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counting (quite fast)</a:t>
            </a:r>
            <a:endParaRPr/>
          </a:p>
        </p:txBody>
      </p:sp>
      <p:pic>
        <p:nvPicPr>
          <p:cNvPr id="84" name="Google Shape;84;p10" title="Screenshot 2026-07-01 at 4.49.21 PM.png"/>
          <p:cNvPicPr preferRelativeResize="0"/>
          <p:nvPr/>
        </p:nvPicPr>
        <p:blipFill rotWithShape="1">
          <a:blip r:embed="rId3">
            <a:alphaModFix/>
          </a:blip>
          <a:srcRect b="0" l="0" r="21142" t="0"/>
          <a:stretch/>
        </p:blipFill>
        <p:spPr>
          <a:xfrm>
            <a:off x="4517575" y="1097175"/>
            <a:ext cx="4626427" cy="147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496118" y="418579"/>
            <a:ext cx="1035000" cy="260700"/>
          </a:xfrm>
          <a:prstGeom prst="roundRect">
            <a:avLst>
              <a:gd fmla="val 17978" name="adj"/>
            </a:avLst>
          </a:prstGeom>
          <a:solidFill>
            <a:srgbClr val="F7EDD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 txBox="1"/>
          <p:nvPr/>
        </p:nvSpPr>
        <p:spPr>
          <a:xfrm>
            <a:off x="579833" y="460399"/>
            <a:ext cx="859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SCALE OF WORK</a:t>
            </a:r>
            <a:endParaRPr/>
          </a:p>
        </p:txBody>
      </p:sp>
      <p:sp>
        <p:nvSpPr>
          <p:cNvPr id="91" name="Google Shape;91;p11"/>
          <p:cNvSpPr txBox="1"/>
          <p:nvPr/>
        </p:nvSpPr>
        <p:spPr>
          <a:xfrm>
            <a:off x="496119" y="734318"/>
            <a:ext cx="8151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700"/>
              <a:buFont typeface="Libre Baskerville"/>
              <a:buNone/>
            </a:pPr>
            <a:r>
              <a:rPr b="0" i="0" lang="en-US" sz="27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 Will Work on Real Systems with Real Data Volume</a:t>
            </a:r>
            <a:endParaRPr/>
          </a:p>
        </p:txBody>
      </p:sp>
      <p:sp>
        <p:nvSpPr>
          <p:cNvPr id="92" name="Google Shape;92;p11"/>
          <p:cNvSpPr/>
          <p:nvPr/>
        </p:nvSpPr>
        <p:spPr>
          <a:xfrm>
            <a:off x="495300" y="1660388"/>
            <a:ext cx="2571900" cy="952500"/>
          </a:xfrm>
          <a:prstGeom prst="roundRect">
            <a:avLst>
              <a:gd fmla="val 600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 txBox="1"/>
          <p:nvPr/>
        </p:nvSpPr>
        <p:spPr>
          <a:xfrm>
            <a:off x="495300" y="1708163"/>
            <a:ext cx="2571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230M+</a:t>
            </a:r>
            <a:endParaRPr b="1" sz="240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Data Points Processed</a:t>
            </a:r>
            <a:endParaRPr sz="100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11"/>
          <p:cNvSpPr/>
          <p:nvPr/>
        </p:nvSpPr>
        <p:spPr>
          <a:xfrm>
            <a:off x="3286125" y="1660388"/>
            <a:ext cx="2571900" cy="952500"/>
          </a:xfrm>
          <a:prstGeom prst="roundRect">
            <a:avLst>
              <a:gd fmla="val 600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3286125" y="1660388"/>
            <a:ext cx="2571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200K+</a:t>
            </a:r>
            <a:endParaRPr b="1" sz="240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Projects Tracked in Real Time</a:t>
            </a:r>
            <a:endParaRPr sz="100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6076950" y="1660388"/>
            <a:ext cx="2571900" cy="952500"/>
          </a:xfrm>
          <a:prstGeom prst="roundRect">
            <a:avLst>
              <a:gd fmla="val 6000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 txBox="1"/>
          <p:nvPr/>
        </p:nvSpPr>
        <p:spPr>
          <a:xfrm>
            <a:off x="6076950" y="1660388"/>
            <a:ext cx="2571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₹60L Cr+</a:t>
            </a:r>
            <a:endParaRPr b="1" sz="240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Opportunities Monitored</a:t>
            </a:r>
            <a:endParaRPr sz="100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495300" y="2882175"/>
            <a:ext cx="8153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 an AI/Data Engineering Intern, you may work on:</a:t>
            </a:r>
            <a:endParaRPr b="0" sz="130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99" name="Google Shape;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550" y="3412825"/>
            <a:ext cx="209700" cy="2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/>
        </p:nvSpPr>
        <p:spPr>
          <a:xfrm>
            <a:off x="842875" y="3384250"/>
            <a:ext cx="3524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Python scripts, data cleaning pipelines, and web scraping</a:t>
            </a:r>
            <a:endParaRPr b="0" sz="110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6700" y="3412825"/>
            <a:ext cx="209700" cy="2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1"/>
          <p:cNvSpPr txBox="1"/>
          <p:nvPr/>
        </p:nvSpPr>
        <p:spPr>
          <a:xfrm>
            <a:off x="5057775" y="3341438"/>
            <a:ext cx="3524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DB queries, validation, and dashboard work</a:t>
            </a:r>
            <a:endParaRPr b="0" sz="110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981450"/>
            <a:ext cx="209700" cy="2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>
            <a:off x="809625" y="3895800"/>
            <a:ext cx="3524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AI/LLM extraction validation and pipeline monitoring</a:t>
            </a:r>
            <a:endParaRPr b="0" sz="110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3450" y="3981450"/>
            <a:ext cx="209700" cy="2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>
            <a:off x="5057775" y="3895800"/>
            <a:ext cx="3524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Search and ranking quality improvement</a:t>
            </a:r>
            <a:endParaRPr b="0" sz="110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/>
        </p:nvSpPr>
        <p:spPr>
          <a:xfrm>
            <a:off x="495300" y="381000"/>
            <a:ext cx="1905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SELECTION PROCESS</a:t>
            </a:r>
            <a:endParaRPr b="1" sz="800">
              <a:solidFill>
                <a:srgbClr val="B88E2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495300" y="571500"/>
            <a:ext cx="4762500" cy="31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4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How We Will Select Students</a:t>
            </a:r>
            <a:endParaRPr b="0" sz="204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495300" y="1000125"/>
            <a:ext cx="81534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written test identifies students who </a:t>
            </a:r>
            <a:r>
              <a:rPr b="1" lang="en-US" sz="1100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think like engineers</a:t>
            </a:r>
            <a:r>
              <a:rPr b="0" lang="en-US" sz="1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— not just those who memorize syntax OR vibe code.</a:t>
            </a:r>
            <a:endParaRPr b="0" sz="1100">
              <a:solidFill>
                <a:srgbClr val="4542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4" name="Google Shape;114;p12"/>
          <p:cNvGrpSpPr/>
          <p:nvPr/>
        </p:nvGrpSpPr>
        <p:grpSpPr>
          <a:xfrm>
            <a:off x="495300" y="1524000"/>
            <a:ext cx="8153550" cy="3095700"/>
            <a:chOff x="495300" y="1524000"/>
            <a:chExt cx="8153550" cy="3095700"/>
          </a:xfrm>
        </p:grpSpPr>
        <p:sp>
          <p:nvSpPr>
            <p:cNvPr id="115" name="Google Shape;115;p12"/>
            <p:cNvSpPr/>
            <p:nvPr/>
          </p:nvSpPr>
          <p:spPr>
            <a:xfrm>
              <a:off x="495300" y="1524000"/>
              <a:ext cx="2571900" cy="3095700"/>
            </a:xfrm>
            <a:prstGeom prst="roundRect">
              <a:avLst>
                <a:gd fmla="val 2222" name="adj"/>
              </a:avLst>
            </a:prstGeom>
            <a:solidFill>
              <a:srgbClr val="F7EDD4"/>
            </a:solidFill>
            <a:ln cap="flat" cmpd="sng" w="9525">
              <a:solidFill>
                <a:srgbClr val="DDD3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2"/>
            <p:cNvSpPr txBox="1"/>
            <p:nvPr/>
          </p:nvSpPr>
          <p:spPr>
            <a:xfrm>
              <a:off x="495300" y="1524000"/>
              <a:ext cx="25719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5C4E3D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01. Written Test</a:t>
              </a:r>
              <a:endParaRPr b="1" sz="1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B88E23"/>
                  </a:solidFill>
                  <a:latin typeface="DM Sans"/>
                  <a:ea typeface="DM Sans"/>
                  <a:cs typeface="DM Sans"/>
                  <a:sym typeface="DM Sans"/>
                </a:rPr>
                <a:t>19 questions: basics &amp; applied</a:t>
              </a:r>
              <a:endParaRPr b="1" sz="1000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5C4E3D"/>
                  </a:solidFill>
                  <a:latin typeface="DM Sans"/>
                  <a:ea typeface="DM Sans"/>
                  <a:cs typeface="DM Sans"/>
                  <a:sym typeface="DM Sans"/>
                </a:rPr>
                <a:t>First 10 Questions</a:t>
              </a:r>
              <a:endParaRPr b="1" sz="950">
                <a:solidFill>
                  <a:srgbClr val="5C4E3D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Basic coding, Python logic, SQL, JSON, estimation, and reasoning — used for quick screening.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5C4E3D"/>
                  </a:solidFill>
                  <a:latin typeface="DM Sans"/>
                  <a:ea typeface="DM Sans"/>
                  <a:cs typeface="DM Sans"/>
                  <a:sym typeface="DM Sans"/>
                </a:rPr>
                <a:t>Next 9 Questions</a:t>
              </a:r>
              <a:endParaRPr b="1" sz="950">
                <a:solidFill>
                  <a:srgbClr val="5C4E3D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Applied coding, data cleaning, debugging, LLM validation, ownership, and production thinking.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>
              <a:off x="3286125" y="1524000"/>
              <a:ext cx="2571900" cy="3095700"/>
            </a:xfrm>
            <a:prstGeom prst="roundRect">
              <a:avLst>
                <a:gd fmla="val 2222" name="adj"/>
              </a:avLst>
            </a:prstGeom>
            <a:solidFill>
              <a:srgbClr val="F7EDD4"/>
            </a:solidFill>
            <a:ln cap="flat" cmpd="sng" w="9525">
              <a:solidFill>
                <a:srgbClr val="DDD3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2"/>
            <p:cNvSpPr txBox="1"/>
            <p:nvPr/>
          </p:nvSpPr>
          <p:spPr>
            <a:xfrm>
              <a:off x="3286125" y="1524000"/>
              <a:ext cx="25719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5C4E3D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02. Screening</a:t>
              </a:r>
              <a:endParaRPr b="1" sz="1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B88E23"/>
                  </a:solidFill>
                  <a:latin typeface="DM Sans"/>
                  <a:ea typeface="DM Sans"/>
                  <a:cs typeface="DM Sans"/>
                  <a:sym typeface="DM Sans"/>
                </a:rPr>
                <a:t>Evaluate answers &amp; reasoning</a:t>
              </a:r>
              <a:endParaRPr b="1" sz="1000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We deep-dive into your written test submission to evaluate:</a:t>
              </a:r>
              <a:endParaRPr sz="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54240"/>
                </a:buClr>
                <a:buSzPts val="900"/>
                <a:buFont typeface="DM Sans"/>
                <a:buChar char="●"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Actual correctness and approach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54240"/>
                </a:buClr>
                <a:buSzPts val="900"/>
                <a:buFont typeface="DM Sans"/>
                <a:buChar char="●"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Engineering reasoning behind choices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54240"/>
                </a:buClr>
                <a:buSzPts val="900"/>
                <a:buFont typeface="DM Sans"/>
                <a:buChar char="●"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Cleanliness of logic and code structures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54240"/>
                </a:buClr>
                <a:buSzPts val="900"/>
                <a:buFont typeface="DM Sans"/>
                <a:buChar char="●"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Demonstrated sense of ownership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" name="Google Shape;119;p12"/>
            <p:cNvSpPr/>
            <p:nvPr/>
          </p:nvSpPr>
          <p:spPr>
            <a:xfrm>
              <a:off x="6076950" y="1524000"/>
              <a:ext cx="2571900" cy="3095700"/>
            </a:xfrm>
            <a:prstGeom prst="roundRect">
              <a:avLst>
                <a:gd fmla="val 2222" name="adj"/>
              </a:avLst>
            </a:prstGeom>
            <a:solidFill>
              <a:srgbClr val="F7EDD4"/>
            </a:solidFill>
            <a:ln cap="flat" cmpd="sng" w="9525">
              <a:solidFill>
                <a:srgbClr val="DDD3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2"/>
            <p:cNvSpPr txBox="1"/>
            <p:nvPr/>
          </p:nvSpPr>
          <p:spPr>
            <a:xfrm>
              <a:off x="6076950" y="1524000"/>
              <a:ext cx="25719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5C4E3D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03. Final Interview</a:t>
              </a:r>
              <a:endParaRPr b="1" sz="1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B88E23"/>
                  </a:solidFill>
                  <a:latin typeface="DM Sans"/>
                  <a:ea typeface="DM Sans"/>
                  <a:cs typeface="DM Sans"/>
                  <a:sym typeface="DM Sans"/>
                </a:rPr>
                <a:t>Problem-solving &amp; fit</a:t>
              </a:r>
              <a:endParaRPr b="1" sz="1000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A comprehensive, live interaction with the core engineering team:</a:t>
              </a:r>
              <a:endParaRPr sz="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54240"/>
                </a:buClr>
                <a:buSzPts val="900"/>
                <a:buFont typeface="DM Sans"/>
                <a:buChar char="●"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Interactive technical problem-solving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54240"/>
                </a:buClr>
                <a:buSzPts val="900"/>
                <a:buFont typeface="DM Sans"/>
                <a:buChar char="●"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Real-time system design scenarios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54240"/>
                </a:buClr>
                <a:buSzPts val="900"/>
                <a:buFont typeface="DM Sans"/>
                <a:buChar char="●"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Gauging alignment with builder culture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54240"/>
                </a:buClr>
                <a:buSzPts val="900"/>
                <a:buFont typeface="DM Sans"/>
                <a:buChar char="●"/>
              </a:pPr>
              <a:r>
                <a:rPr lang="en-US" sz="900">
                  <a:solidFill>
                    <a:srgbClr val="454240"/>
                  </a:solidFill>
                  <a:latin typeface="DM Sans"/>
                  <a:ea typeface="DM Sans"/>
                  <a:cs typeface="DM Sans"/>
                  <a:sym typeface="DM Sans"/>
                </a:rPr>
                <a:t>Determining mutual team fit</a:t>
              </a:r>
              <a:endParaRPr sz="9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125" name="Google Shape;1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/>
          <p:nvPr/>
        </p:nvSpPr>
        <p:spPr>
          <a:xfrm>
            <a:off x="478075" y="397400"/>
            <a:ext cx="3027000" cy="269100"/>
          </a:xfrm>
          <a:prstGeom prst="roundRect">
            <a:avLst>
              <a:gd fmla="val 18775" name="adj"/>
            </a:avLst>
          </a:prstGeom>
          <a:solidFill>
            <a:srgbClr val="F7EDD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503133" y="442943"/>
            <a:ext cx="29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None/>
            </a:pPr>
            <a:r>
              <a:rPr lang="en-US" sz="12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COMPENSATION &amp; PPO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508846" y="666394"/>
            <a:ext cx="8052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300"/>
              <a:buFont typeface="Libre Baskerville"/>
              <a:buNone/>
            </a:pPr>
            <a:r>
              <a:rPr b="0" i="0" lang="en-US" sz="23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Strong Compensation for Strong Performers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508844" y="1585365"/>
            <a:ext cx="8052300" cy="2674200"/>
          </a:xfrm>
          <a:prstGeom prst="roundRect">
            <a:avLst>
              <a:gd fmla="val 1915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516965" y="1590131"/>
            <a:ext cx="8035800" cy="1550400"/>
          </a:xfrm>
          <a:prstGeom prst="rect">
            <a:avLst/>
          </a:prstGeom>
          <a:solidFill>
            <a:srgbClr val="F7EDD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724655" y="1712021"/>
            <a:ext cx="186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100"/>
              <a:buFont typeface="Libre Baskerville"/>
              <a:buNone/>
            </a:pPr>
            <a:r>
              <a:rPr b="0" i="0" lang="en-US" sz="11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Internship Details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724568" y="2169828"/>
            <a:ext cx="7620600" cy="1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93039" lvl="0" marL="193039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Role: AI/Data Engineering Intern</a:t>
            </a:r>
            <a:endParaRPr/>
          </a:p>
          <a:p>
            <a:pPr indent="-193039" lvl="0" marL="193039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Duration: 6 months</a:t>
            </a:r>
            <a:endParaRPr/>
          </a:p>
          <a:p>
            <a:pPr indent="-193039" lvl="0" marL="193039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Location: Indiranagar, Bengaluru</a:t>
            </a:r>
            <a:endParaRPr/>
          </a:p>
          <a:p>
            <a:pPr indent="-193039" lvl="0" marL="193039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Stipend: </a:t>
            </a:r>
            <a:r>
              <a:rPr b="1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₹35,000/month</a:t>
            </a:r>
            <a:endParaRPr/>
          </a:p>
          <a:p>
            <a:pPr indent="0" lvl="0" marL="45720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516965" y="2968387"/>
            <a:ext cx="8035800" cy="1114500"/>
          </a:xfrm>
          <a:prstGeom prst="rect">
            <a:avLst/>
          </a:prstGeom>
          <a:solidFill>
            <a:srgbClr val="F7EDD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516965" y="2968387"/>
            <a:ext cx="8035800" cy="14400"/>
          </a:xfrm>
          <a:prstGeom prst="roundRect">
            <a:avLst>
              <a:gd fmla="val 50000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724570" y="3140283"/>
            <a:ext cx="3003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100"/>
              <a:buFont typeface="Libre Baskerville"/>
              <a:buNone/>
            </a:pPr>
            <a:r>
              <a:rPr b="0" i="0" lang="en-US" sz="11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Full-Time Conversion (PPO)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724568" y="3563369"/>
            <a:ext cx="7620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93039" lvl="0" marL="193039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Char char="•"/>
            </a:pPr>
            <a:r>
              <a:rPr b="1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₹12 LPA</a:t>
            </a: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fixed salary</a:t>
            </a:r>
            <a:endParaRPr/>
          </a:p>
          <a:p>
            <a:pPr indent="-193039" lvl="0" marL="193039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Char char="•"/>
            </a:pPr>
            <a:r>
              <a:rPr b="1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₹3 LPA</a:t>
            </a: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in stocks/ESOPs</a:t>
            </a:r>
            <a:endParaRPr/>
          </a:p>
          <a:p>
            <a:pPr indent="-193039" lvl="0" marL="193039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Performance-linked — not automatic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508846" y="4377127"/>
            <a:ext cx="80523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We reward fast learning, ownership, debugging ability, clean coding, reliability, and consistent output with real-world data.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/>
        </p:nvSpPr>
        <p:spPr>
          <a:xfrm>
            <a:off x="570533" y="459283"/>
            <a:ext cx="1237630" cy="177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8E23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WORK CULTURE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496119" y="688776"/>
            <a:ext cx="5485111" cy="368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400"/>
              <a:buFont typeface="Libre Baskerville"/>
              <a:buNone/>
            </a:pPr>
            <a:r>
              <a:rPr b="0" i="0" lang="en-US" sz="24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Serious Internship for Serious Builders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472959" y="1652496"/>
            <a:ext cx="14328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1200"/>
              <a:buFont typeface="Libre Baskerville"/>
              <a:buNone/>
            </a:pPr>
            <a:r>
              <a:rPr b="1" i="0" lang="en-US" sz="1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Work Expectations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518759" y="2191070"/>
            <a:ext cx="28608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156362" lvl="0" marL="15636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134"/>
              <a:buFont typeface="DM Sans"/>
              <a:buChar char="•"/>
            </a:pPr>
            <a:r>
              <a:rPr b="0" i="0" lang="en-US" sz="1134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5 days work-from-office, Indiranagar, Bengaluru</a:t>
            </a:r>
            <a:endParaRPr/>
          </a:p>
          <a:p>
            <a:pPr indent="-156362" lvl="0" marL="15636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134"/>
              <a:buFont typeface="DM Sans"/>
              <a:buChar char="•"/>
            </a:pPr>
            <a:r>
              <a:rPr b="0" i="0" lang="en-US" sz="1134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Typical hours: 10 AM – 6 PM</a:t>
            </a:r>
            <a:endParaRPr/>
          </a:p>
          <a:p>
            <a:pPr indent="-156362" lvl="0" marL="15636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134"/>
              <a:buFont typeface="DM Sans"/>
              <a:buChar char="•"/>
            </a:pPr>
            <a:r>
              <a:rPr b="0" i="0" lang="en-US" sz="1134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Real product and data work — no dummy projects</a:t>
            </a:r>
            <a:endParaRPr/>
          </a:p>
          <a:p>
            <a:pPr indent="-156362" lvl="0" marL="15636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134"/>
              <a:buFont typeface="DM Sans"/>
              <a:buChar char="•"/>
            </a:pPr>
            <a:r>
              <a:rPr b="0" i="0" lang="en-US" sz="1134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Regular review and feedback cycles</a:t>
            </a:r>
            <a:endParaRPr/>
          </a:p>
          <a:p>
            <a:pPr indent="-156362" lvl="0" marL="15636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134"/>
              <a:buFont typeface="DM Sans"/>
              <a:buChar char="•"/>
            </a:pPr>
            <a:r>
              <a:rPr b="0" i="0" lang="en-US" sz="1134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Performance-linked continuation and PPO</a:t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5996135" y="1196162"/>
            <a:ext cx="2656434" cy="3403223"/>
          </a:xfrm>
          <a:prstGeom prst="roundRect">
            <a:avLst>
              <a:gd fmla="val 1962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6259598" y="1441564"/>
            <a:ext cx="2129508" cy="2260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Important: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Selection does not guarantee hiring. Internship completion does not guarantee PPO. Outcomes depend on performance, ownership, team fit.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152" name="Google Shape;1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520750" y="375225"/>
            <a:ext cx="660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400"/>
              <a:buFont typeface="Libre Baskerville"/>
              <a:buNone/>
            </a:pPr>
            <a:r>
              <a:rPr b="0" i="0" lang="en-US" sz="24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Is This the Right Fit for You?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496167" y="961419"/>
            <a:ext cx="24600" cy="988200"/>
          </a:xfrm>
          <a:prstGeom prst="roundRect">
            <a:avLst>
              <a:gd fmla="val 50000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656444" y="1219184"/>
            <a:ext cx="78123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"If you want a comfortable internship with dummy projects, this may not be the right fit. But if you want real engineering exposure, high learning, founder access, and a serious career path in AI and data systems — this is a strong opportunity."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496167" y="2071681"/>
            <a:ext cx="3972900" cy="1369200"/>
          </a:xfrm>
          <a:prstGeom prst="roundRect">
            <a:avLst>
              <a:gd fmla="val 3805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717859" y="2200417"/>
            <a:ext cx="640800" cy="372000"/>
          </a:xfrm>
          <a:prstGeom prst="roundRect">
            <a:avLst>
              <a:gd fmla="val 50000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2" id="158" name="Google Shape;1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059" y="2302661"/>
            <a:ext cx="288331" cy="16743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717859" y="2680984"/>
            <a:ext cx="203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Libre Baskerville"/>
              <a:buNone/>
            </a:pPr>
            <a:r>
              <a:rPr b="0" i="0" lang="en-US" sz="1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 Engineering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17861" y="3082358"/>
            <a:ext cx="3529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Production systems, real data, real users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4656044" y="2071681"/>
            <a:ext cx="3972900" cy="1369200"/>
          </a:xfrm>
          <a:prstGeom prst="roundRect">
            <a:avLst>
              <a:gd fmla="val 3805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877734" y="2200417"/>
            <a:ext cx="640800" cy="372000"/>
          </a:xfrm>
          <a:prstGeom prst="roundRect">
            <a:avLst>
              <a:gd fmla="val 50000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3" id="163" name="Google Shape;16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3936" y="2302661"/>
            <a:ext cx="288331" cy="16743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4877734" y="2680984"/>
            <a:ext cx="190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Libre Baskerville"/>
              <a:buNone/>
            </a:pPr>
            <a:r>
              <a:rPr b="0" i="0" lang="en-US" sz="1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Founder Access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4877736" y="3069695"/>
            <a:ext cx="3529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Direct mentorship from IIT-founder builders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496050" y="3549250"/>
            <a:ext cx="8133300" cy="1111200"/>
          </a:xfrm>
          <a:prstGeom prst="roundRect">
            <a:avLst>
              <a:gd fmla="val 4404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717859" y="3592361"/>
            <a:ext cx="640500" cy="372000"/>
          </a:xfrm>
          <a:prstGeom prst="roundRect">
            <a:avLst>
              <a:gd fmla="val 50000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4" id="168" name="Google Shape;16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4059" y="3701492"/>
            <a:ext cx="288331" cy="16743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5"/>
          <p:cNvSpPr txBox="1"/>
          <p:nvPr/>
        </p:nvSpPr>
        <p:spPr>
          <a:xfrm>
            <a:off x="717859" y="3994153"/>
            <a:ext cx="143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Libre Baskerville"/>
              <a:buNone/>
            </a:pPr>
            <a:r>
              <a:rPr b="0" i="0" lang="en-US" sz="1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Career Path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717861" y="4397540"/>
            <a:ext cx="305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PPO at ₹15 LPA for top performers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